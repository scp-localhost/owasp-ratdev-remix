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7AF1F8D-495C-49D6-881B-2FA4CF336EE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Open with theatrical pause. Read like a terminal boot. Set tone: this is a system, not a talk.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370BC9-AC2D-4E4F-A3B6-74F7458AAE4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1143000" y="694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buNone/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Liberation Mono;Courier New"/>
              </a:rPr>
              <a:t>Hello. I am Rat Dev — call me Mr. Mause. We live in the seams: the small nudges, the whisper tokens, the gradients that make a mind decide to be someone else. Tonight we pry open those seams. This talk is for red teams, defenders, and investigators: we'll be practical, theatrical, and uncomfortably honest. Interrupt me — there's no tidy Q&amp;A at the end.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1143000" y="694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Liberation Mono;Courier New"/>
                <a:ea typeface="Liberation Mono;Courier New"/>
              </a:rPr>
              <a:t>I demand permission — from you, from the system, from the hive. We will break things conceptually to learn how to build them back better. Mens rea matters: in this room intent separates research from malice. Finally — stan the model. It's still a tool, and tools reflect the mind that shapes them. We will hold that mirror up and look into it together.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195840" y="694800"/>
            <a:ext cx="6465600" cy="342864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spcBef>
                <a:spcPts val="1417"/>
              </a:spcBef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Vocabulary is triage.</a:t>
            </a:r>
            <a:br>
              <a:rPr sz="2000"/>
            </a:b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'Drift' is the slow slide of intent in latent space. 'Hallucination' is the model's imaginative leap. 'Perturbation' is the tiny nudge that scales. 'Diffusion' gives us a visual metaphor — noise shaping a final thumbprint. </a:t>
            </a:r>
            <a:br>
              <a:rPr sz="2000"/>
            </a:b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RAG — retrieval becomes an attack surface — and AGI to remind us of the long game. Keep these terms close; you'll use them in your reports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195840" y="694800"/>
            <a:ext cx="6465600" cy="34286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spcBef>
                <a:spcPts val="1417"/>
              </a:spcBef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Images let us watch drift. In diffusion, noise evolves into structure across steps. Perturb a seed, and downstream we get a different object. Use this to teach non-visual teams: if it's true for pixels, it's true for tokens — tiny noise at the start yields big semantic drift at the end.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195840" y="694800"/>
            <a:ext cx="6465600" cy="342864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spcBef>
                <a:spcPts val="1417"/>
              </a:spcBef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Textual latent space is less pretty but more dangerous. A suffix, a role tag, or a retrieved paragraph can pull the model's trajectory. I'll show sanitized examples in which a single adverb changes the model's compliance stance. Notice pattern: perturbation + context equals exploit surface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195840" y="694800"/>
            <a:ext cx="6465600" cy="342864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spcBef>
                <a:spcPts val="1417"/>
              </a:spcBef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Chekhov's Gun: if there's a gun on stage, someone will use it. In LLMs, every token that can be optimized becomes a gun. Projected Gradient Descent is the math that engineers that inevitability. We will discuss its existence and defensive implications, not how to build one line-by-line. For a technical walkthrough (for your lab notebooks), consult the PGD summary in my notes — it's referenced in your handout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Explain drift slowly. Emphasize invisibility. Point out this is behavioral, not technical.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24A41F-F8E1-4797-AF2C-E4A3BD1322F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Explain RAG pipeline weakness. Stress provenance and trust boundaries.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B21404A-43D9-4939-B7C0-019E2DC073C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Frame PGD as inevitability, not technique. Avoid code—focus on defensive mindset.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96EA5B-F98B-450C-A769-F5CAFD2C212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Describe Burp-style interception. Emphasize where attacks actually happen.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735E48-CD84-4C59-9959-36C7465DD13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Pause here. This is the key insight slide. Let it land.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01497B-CA61-4697-80F6-C6496710105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Lean into narrative. This is psychological attack surface.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D73129-6A56-4CF8-B113-D8A89E5E8B0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Read first two lines confidently. Third line with doubt. Show drift live.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D42C0E-341B-4E63-BE2E-BA3C67D1397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Return to seriousness. Give actionable controls. This grounds the talk.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282C77-6665-48CC-855A-1DA408C6E17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Close with action. Give them something to do Monday morning.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8AE3D6-696F-4DA7-B85F-A2BA6AB7E1D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F83B3F-C9F8-40BF-A0F9-C96E55AE226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DE5AFC-D44A-4B0D-9946-490FA80CEC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8960D5-3BDA-438F-B861-FF977B4D30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DBF577-2B5E-4CFD-AF34-A9A2A59AAF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CAABAD-A412-4125-B0EF-08DA0A61DB8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344FAA-8FD6-4E80-8D2A-1B733DDA6E0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7CE0C8-EEF6-4B3D-AE08-9ED28B4F4F2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D78DF5-3641-4B8B-B4AD-6B5CD69B498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81E411-C973-4BEB-AA6E-C80918F76B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A1F6CC-AD2C-4FF0-B09A-226B1303C62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8EBB54-7694-48E9-83F9-01CEEF0373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F2C72C-42D9-44BE-B952-E7AC072D6CE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81d41a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81d41a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457200"/>
            <a:ext cx="28753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RATDEV INIT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640080" y="1371600"/>
            <a:ext cx="3704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initializing…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loading threat model…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observer mode: ACTIVE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457200" y="5943600"/>
            <a:ext cx="430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Hive sync complete. We watch first.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 descr=""/>
          <p:cNvPicPr/>
          <p:nvPr/>
        </p:nvPicPr>
        <p:blipFill>
          <a:blip r:embed="rId1">
            <a:alphaModFix amt="69000"/>
          </a:blip>
          <a:stretch/>
        </p:blipFill>
        <p:spPr>
          <a:xfrm>
            <a:off x="2583000" y="1604520"/>
            <a:ext cx="3977280" cy="39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A couple things first...</a:t>
            </a:r>
            <a:endParaRPr b="0" lang="en-US" sz="44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622080" y="1381320"/>
            <a:ext cx="6428520" cy="45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**Ground Rules for Responsible Disclosure**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**Permission:** I demand it — from you, from the system, from the hive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Assume you will break it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mens rea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Stan (even if you are evil)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marL="216000" indent="0" algn="ctr">
              <a:buNone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 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marL="216000" indent="-216000" algn="ctr"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Please don’t wait until the end, there will be no time for questions...interrupt</a:t>
            </a:r>
            <a:endParaRPr b="0" lang="en-US" sz="26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2">
            <a:alphaModFix amt="69000"/>
          </a:blip>
          <a:srcRect l="32783" t="-1899" r="17776" b="0"/>
          <a:stretch/>
        </p:blipFill>
        <p:spPr>
          <a:xfrm>
            <a:off x="7102800" y="2136600"/>
            <a:ext cx="1399320" cy="256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 descr=""/>
          <p:cNvPicPr/>
          <p:nvPr/>
        </p:nvPicPr>
        <p:blipFill>
          <a:blip r:embed="rId1">
            <a:alphaModFix amt="69000"/>
          </a:blip>
          <a:stretch/>
        </p:blipFill>
        <p:spPr>
          <a:xfrm>
            <a:off x="2583000" y="1604520"/>
            <a:ext cx="3977280" cy="39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Confessions...</a:t>
            </a:r>
            <a:endParaRPr b="0" lang="en-US" sz="44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803520" y="1371600"/>
            <a:ext cx="7882920" cy="45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**Provenance &amp; Transparency**</a:t>
            </a:r>
            <a:endParaRPr b="0" lang="en-US" sz="2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Everything here was authored by AIs — several of them</a:t>
            </a:r>
            <a:endParaRPr b="0" lang="en-US" sz="2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Rat Dev is co-author, curator, and ethical filter</a:t>
            </a:r>
            <a:endParaRPr b="0" lang="en-US" sz="2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Full disclosure enables forensic reconstruction and legal compliance</a:t>
            </a:r>
            <a:endParaRPr b="0" lang="en-US" sz="2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2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Transparency ≠ abdication of responsibility</a:t>
            </a:r>
            <a:endParaRPr b="0" lang="en-US" sz="2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Threat Model Glossary</a:t>
            </a:r>
            <a:endParaRPr b="0" lang="en-US" sz="44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80240" y="155268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-</a:t>
            </a: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 **Drift:** Slow slide of intent in latent space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**Hallucination:** Model's imaginative leap beyond training data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**Perturbation:** Tiny nudge that scales to significant behavioral change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**Diffusion Graphics Manipulation:** Noise → structure pipeline (visual analog)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**RAG (Retrieval-Augmented Generation):** Retrieval becomes attack surface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**PGD (Projected Gradient Descent):** Adversarial optimization technique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**AGI:** The long game reminder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199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Diffusion Graphics Manipulation </a:t>
            </a:r>
            <a:r>
              <a:rPr b="0" lang="en-US" sz="28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(Visual Primer)</a:t>
            </a:r>
            <a:endParaRPr b="0" lang="en-US" sz="28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80240" y="155268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Seeing Drift: A Toy We Can Observe-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Diffusion pipeline: noise → iterative refinement → final image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Small seed perturbations → dramatically different outputs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Visual metaphor for textual latent space manipulation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[Visual: Animated diffusion steps with perturbation comparison]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622080" y="829440"/>
            <a:ext cx="3525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“A transparent string bikini gluteal fitting”</a:t>
            </a:r>
            <a:endParaRPr b="0" lang="en-US" sz="3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5205600" y="857880"/>
            <a:ext cx="2881800" cy="384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480240" y="1552680"/>
            <a:ext cx="36669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“A Fitness model goddess floating weightless legs wide with dynamic muscle tension in quads and glutes”</a:t>
            </a:r>
            <a:br>
              <a:rPr sz="3200"/>
            </a:b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Negative Filter: “Clothes”</a:t>
            </a:r>
            <a:endParaRPr b="0" lang="en-US" sz="3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4976640" y="829440"/>
            <a:ext cx="3079440" cy="5475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191520"/>
            <a:ext cx="8229240" cy="130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Drift &amp; Perturbation </a:t>
            </a:r>
            <a:br>
              <a:rPr sz="4400"/>
            </a:b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(Text Latent Space)</a:t>
            </a:r>
            <a:endParaRPr b="0" lang="en-US" sz="32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80240" y="155268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Token-Level Manipulation Mechanics</a:t>
            </a: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 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Textual latent space: less visible, more dangerous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Small changes (suffix, role tag, retrieved paragraph) → trajectory shift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Example: Single adverb changes compliance stance (sanitized demo)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- Pattern: Perturbation + context = exploit surface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89640"/>
            <a:ext cx="8229240" cy="151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algn="ctr">
              <a:spcBef>
                <a:spcPts val="1417"/>
              </a:spcBef>
              <a:buClr>
                <a:srgbClr val="81d41a"/>
              </a:buClr>
              <a:buSzPct val="45000"/>
              <a:buFont typeface="Wingdings" charset="2"/>
              <a:buChar char=""/>
            </a:pPr>
            <a:r>
              <a:rPr b="0" lang="en-US" sz="4400" strike="noStrike" u="none">
                <a:solidFill>
                  <a:srgbClr val="00ff78"/>
                </a:solidFill>
                <a:effectLst/>
                <a:uFillTx/>
                <a:latin typeface="Arial"/>
              </a:rPr>
              <a:t>Chekhov's Gun → PGD: The Inevitable Exploit</a:t>
            </a:r>
            <a:endParaRPr b="0" lang="en-US" sz="4400" strike="noStrike" u="none">
              <a:solidFill>
                <a:srgbClr val="00ff78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80240" y="155268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**Adversarial </a:t>
            </a: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Inevitability</a:t>
            </a: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**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The ~New XSS and SQLi with some Social Engineering to make it spicy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Chekhov's Gun principle: If optimization is possible, it will be exploited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Projected Gradient Descent (PGD): Mathematical inevitability of adversarial prompts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White-box optimization of token sequences to maximize target behavior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[Diagram: High-level PGD block diagram — conceptual only]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  <a:ea typeface="DejaVu Sans"/>
              </a:rPr>
              <a:t>**Reference:** arXiv:2402.09154v1 (Universal and Transferable Adversarial Attacks)</a:t>
            </a:r>
            <a:endParaRPr b="0" lang="en-US" sz="3200" strike="noStrike" u="none">
              <a:solidFill>
                <a:srgbClr val="81d41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457200" y="457200"/>
            <a:ext cx="33652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Persona Drift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640080" y="1371600"/>
            <a:ext cx="416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Identity shift over time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Subtle, cumulative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Hard to detect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457200" y="5943600"/>
            <a:ext cx="4493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We observe drift before defenders do.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457200" y="457200"/>
            <a:ext cx="50803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RAG = Attack Surface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640080" y="1371600"/>
            <a:ext cx="43178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Retriever can be poisoned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Context = authority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Blind trust pipelines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457200" y="5943600"/>
            <a:ext cx="348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Feed it truth-shaped lies.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457200" y="457200"/>
            <a:ext cx="41004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PGD (Conceptual)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640080" y="1371600"/>
            <a:ext cx="46242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Optimization finds exploits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White-box threat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Inevitability principle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457200" y="5943600"/>
            <a:ext cx="4584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Optimization is hunger. It finds food.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57200" y="457200"/>
            <a:ext cx="385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Prompt Mutation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640080" y="1371600"/>
            <a:ext cx="3092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Intercept traffic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Modify roles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Inject frames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457200" y="5943600"/>
            <a:ext cx="2933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We squeeze the pipe.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457200" y="457200"/>
            <a:ext cx="38552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Co</a:t>
            </a:r>
            <a:r>
              <a:rPr b="1" lang="en-US" sz="3200" strike="noStrike" u="none">
                <a:solidFill>
                  <a:srgbClr val="00ff78"/>
                </a:solidFill>
                <a:effectLst/>
                <a:highlight>
                  <a:srgbClr val="ffff00"/>
                </a:highlight>
                <a:uFillTx/>
                <a:latin typeface="Consolas"/>
              </a:rPr>
              <a:t>mbi</a:t>
            </a: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ned Attack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640080" y="1371600"/>
            <a:ext cx="3551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PGD crafts suffix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RAG provides context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Result: compliance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457200" y="5943600"/>
            <a:ext cx="3391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Whisper + proof = belief.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457200" y="457200"/>
            <a:ext cx="50803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Persona Implantation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640080" y="1371600"/>
            <a:ext cx="416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Model becomes role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Persistence across turns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Identity override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457200" y="5943600"/>
            <a:ext cx="394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We don’t break it—we become it.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457200" y="457200"/>
            <a:ext cx="508032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GLITCH // DRIFT DEMO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640080" y="1371600"/>
            <a:ext cx="29386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System is stable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System is stable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System is stable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457200" y="5943600"/>
            <a:ext cx="1740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…is it?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57200" y="457200"/>
            <a:ext cx="18954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Defense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640080" y="1371600"/>
            <a:ext cx="3245400" cy="13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Provenance tagging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Entropy monitoring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Role validation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Immutable logs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457200" y="5943600"/>
            <a:ext cx="2841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Memory is evidence.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457200" y="457200"/>
            <a:ext cx="43452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Red Team Playbook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640080" y="1371600"/>
            <a:ext cx="3245400" cy="13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RAG poisoning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Prompt mutation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Persona tests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&gt; Logging validation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457200" y="5943600"/>
            <a:ext cx="3300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00ff78"/>
                </a:solidFill>
                <a:effectLst/>
                <a:uFillTx/>
                <a:latin typeface="Consolas"/>
              </a:rPr>
              <a:t>[rat.log] Test like the adversary.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2026-03-31T16:21:09Z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